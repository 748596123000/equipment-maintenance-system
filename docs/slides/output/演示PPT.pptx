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0" cy="73152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228600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0" y="5070348"/>
            <a:ext cx="2743200" cy="73152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5" name="Shape 3"/>
          <p:cNvSpPr/>
          <p:nvPr/>
        </p:nvSpPr>
        <p:spPr>
          <a:xfrm>
            <a:off x="9070848" y="2857500"/>
            <a:ext cx="73152" cy="228600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457200"/>
            <a:ext cx="137160" cy="137160"/>
          </a:xfrm>
          <a:prstGeom prst="ellipse">
            <a:avLst/>
          </a:prstGeom>
          <a:solidFill>
            <a:srgbClr val="1A1A2E">
              <a:alpha val="4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8412480" y="4389120"/>
            <a:ext cx="228600" cy="228600"/>
          </a:xfrm>
          <a:prstGeom prst="ellipse">
            <a:avLst/>
          </a:prstGeom>
          <a:solidFill>
            <a:srgbClr val="0F3460">
              <a:alpha val="6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6459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E8E8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设备检修知识检索与作业系统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457200" y="2743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F34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基于多模态大模型技术的智能检修方案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3200400" y="3474720"/>
            <a:ext cx="2743200" cy="27432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3749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8E8E8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第15届中国软件杯大赛 - 龙芯中科技术股份有限公司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E8E8">
                    <a:alpha val="5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2026年5月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E8E8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项目概述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1371600" cy="4572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371600"/>
            <a:ext cx="3931920" cy="219456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4630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34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现状与挑战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1920240"/>
            <a:ext cx="36576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E8E8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知识分散集成集因重复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E8E8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検索效率低下复杂检索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E8E8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新人上手慢擒术设备复杂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E8E8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经验传承困难标准化低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754880" y="1371600"/>
            <a:ext cx="3931920" cy="219456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8" name="Text 6"/>
          <p:cNvSpPr/>
          <p:nvPr/>
        </p:nvSpPr>
        <p:spPr>
          <a:xfrm>
            <a:off x="4937760" y="14630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34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核心价值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937760" y="1920240"/>
            <a:ext cx="36576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E8E8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提高检修效率减少停机时间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E8E8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降低操作失诬率提升安全性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E8E8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精确匹配检修方案提升准确度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E8E8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积累企业知识资产提升竞争力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3840480"/>
            <a:ext cx="8229600" cy="100584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39776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E8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通过AI智能助手实现设备检修的风险式升级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50392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E8E8E8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E8E8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技术架构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1371600" cy="4572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371600"/>
            <a:ext cx="8229600" cy="640080"/>
          </a:xfrm>
          <a:prstGeom prst="rect">
            <a:avLst/>
          </a:prstGeom>
          <a:solidFill>
            <a:srgbClr val="0F3460">
              <a:alpha val="80000"/>
            </a:srgbClr>
          </a:solidFill>
          <a:ln w="25400">
            <a:solidFill>
              <a:srgbClr val="0F346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371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8E8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[ Frontend ]  React 18 + Vite + Tailwind CSS + Zustand + React Router 7  |  PC &amp; Mobile 响应式设计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114800" y="201168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F34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57200" y="2377440"/>
            <a:ext cx="8229600" cy="640080"/>
          </a:xfrm>
          <a:prstGeom prst="rect">
            <a:avLst/>
          </a:prstGeom>
          <a:solidFill>
            <a:srgbClr val="16213E"/>
          </a:solidFill>
          <a:ln w="25400">
            <a:solidFill>
              <a:srgbClr val="0F346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3774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8E8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[ API Layer ]  FastAPI + Python  |  RESTful API + JWT Auth + CORS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114800" y="30175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F34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457200" y="3383280"/>
            <a:ext cx="3931920" cy="64008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383280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34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[ AI Model ]  通义千问  ( Qwen 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754880" y="3383280"/>
            <a:ext cx="3931920" cy="64008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0" y="3383280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34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[ Vector DB ]  ChromaDB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114800" y="402336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F34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457200" y="4389120"/>
            <a:ext cx="8229600" cy="64008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43891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34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[ Data Layer ]  SQLite  |  文档管理 + 用户管理 + 知识库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E8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 Deployment ]  Docker容器化部署  |  支持龙芯LoongArch + 银河鮁龙操作系统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50392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E8E8E8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E8E8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核心功能 上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1371600" cy="4572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280160"/>
            <a:ext cx="3931920" cy="347472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280160"/>
            <a:ext cx="457200" cy="45720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280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0F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05840" y="13716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34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多模态知识检索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1920240"/>
            <a:ext cx="36576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E8E8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 文本检索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8E8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输入关键词，通过向量嵌入检索广大知识库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8E8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 图片检索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8E8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上传故障图片，以图搜图实现相似案例检索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8E8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 混合检索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8E8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文本+图片结合检索，提升检索准确度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8E8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 实时历史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8E8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记录检索历史，快速重复查询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1280160"/>
            <a:ext cx="3931920" cy="347472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10" name="Shape 8"/>
          <p:cNvSpPr/>
          <p:nvPr/>
        </p:nvSpPr>
        <p:spPr>
          <a:xfrm>
            <a:off x="4754880" y="1280160"/>
            <a:ext cx="457200" cy="45720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11" name="Text 9"/>
          <p:cNvSpPr/>
          <p:nvPr/>
        </p:nvSpPr>
        <p:spPr>
          <a:xfrm>
            <a:off x="4754880" y="1280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0F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303520" y="13716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34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AI智能问答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937760" y="1920240"/>
            <a:ext cx="36576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E8E8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 自然语言交互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8E8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用户输入问题，系统自动分析并回答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8E8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 故障诊断辅助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8E8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基于知识库，提供故障原因分析与解决方案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8E8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 多轮对话支持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8E8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记录对话历史，继续上一轮对话提升效率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8E8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 知识溯源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8E8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引用相关案例和文献，可检索阅读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50392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E8E8E8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E8E8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核心功能 下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1371600" cy="4572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280160"/>
            <a:ext cx="3931920" cy="347472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280160"/>
            <a:ext cx="457200" cy="45720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280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0F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05840" y="13716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34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标准化作业指引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1920240"/>
            <a:ext cx="36576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E8E8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 AI生成作业指引书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8E8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基于检索结果自动生成检修步骤指引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8E8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 多安全等级配置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8E8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支持初级/中级/高级检修人员配置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8E8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 Word格式导出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8E8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一键导出Word文档，方便打印与分享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8E8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 历史指引复用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8E8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归类案例记录，快速重复引用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1280160"/>
            <a:ext cx="3931920" cy="347472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10" name="Shape 8"/>
          <p:cNvSpPr/>
          <p:nvPr/>
        </p:nvSpPr>
        <p:spPr>
          <a:xfrm>
            <a:off x="4754880" y="1280160"/>
            <a:ext cx="457200" cy="45720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11" name="Text 9"/>
          <p:cNvSpPr/>
          <p:nvPr/>
        </p:nvSpPr>
        <p:spPr>
          <a:xfrm>
            <a:off x="4754880" y="1280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0F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303520" y="13716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34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知识沉淀与更新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937760" y="1920240"/>
            <a:ext cx="36576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E8E8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 文档上传与审核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8E8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支持多种格式上传，管理员审核后入库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8E8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 案例管理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8E8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标记重要案例，建立频大案例库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8E8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 知识图谱可视化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8E8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图形化展示知识关系，易于理解与分析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8E8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 持续更新机制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8E8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定期更新知识库，保证内容时效性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50392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E8E8E8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E8E8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用户体验优化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1371600" cy="4572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280160"/>
            <a:ext cx="3931920" cy="201168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3716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34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快捷操作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1920240"/>
            <a:ext cx="36576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E8E8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Ctrl + K  全局搜索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E8E8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Ctrl + 1~9  快速导航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E8E8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快速命令面板  打开常用操作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754880" y="1280160"/>
            <a:ext cx="3931920" cy="201168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8" name="Text 6"/>
          <p:cNvSpPr/>
          <p:nvPr/>
        </p:nvSpPr>
        <p:spPr>
          <a:xfrm>
            <a:off x="4937760" y="13716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34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用户引导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937760" y="1920240"/>
            <a:ext cx="36576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E8E8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 新手引导教程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8E8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正确引导新用户了解系统功能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8E8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 功能提示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8E8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鼠标悬停显示详细信息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8E8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 帮助文档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8E8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系统的帮助页面提供快速查询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3566160"/>
            <a:ext cx="8229600" cy="128016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65760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F34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用户体验优化的任务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0080" y="411480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E8E8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“将复杂操作缩短为几次点击，通过智能提示将体验风险降低至最低”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50392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E8E8E8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E8E8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实时通知系统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1371600" cy="4572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280160"/>
            <a:ext cx="8229600" cy="109728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3716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F34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双向通知流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17830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E8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用户上传  →  管理员审核  →  用户接收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560320"/>
            <a:ext cx="2560320" cy="164592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6517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34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站内消息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310896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E8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消息下拉菜单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E8E8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即时查看新通知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91840" y="2560320"/>
            <a:ext cx="2560320" cy="164592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11" name="Text 9"/>
          <p:cNvSpPr/>
          <p:nvPr/>
        </p:nvSpPr>
        <p:spPr>
          <a:xfrm>
            <a:off x="3291840" y="26517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34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声音提示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383280" y="310896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E8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新通知到达时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E8E8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自动唱音提示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26480" y="2560320"/>
            <a:ext cx="2560320" cy="164592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14" name="Text 12"/>
          <p:cNvSpPr/>
          <p:nvPr/>
        </p:nvSpPr>
        <p:spPr>
          <a:xfrm>
            <a:off x="6126480" y="26517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34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桌面通知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217920" y="310896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E8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浏览器桌面推送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E8E8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无需打开系统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8E8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通知持久化  |  数据库存储  |  未读计数统情态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50392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E8E8E8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E8E8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安全与权限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1371600" cy="4572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280160"/>
            <a:ext cx="3931920" cy="292608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3716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34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用户认证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1920240"/>
            <a:ext cx="365760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E8E8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◉ Bearer Token认证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8E8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JWT标讶应用过程高安全性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8E8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◉ 密码加密存储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8E8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bcrypt加密算法防止明文泄漏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8E8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◉ 验证码防护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8E8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图形验证码防止曼设攻击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54880" y="1280160"/>
            <a:ext cx="3931920" cy="292608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8" name="Text 6"/>
          <p:cNvSpPr/>
          <p:nvPr/>
        </p:nvSpPr>
        <p:spPr>
          <a:xfrm>
            <a:off x="4937760" y="13716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34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权限管理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937760" y="1920240"/>
            <a:ext cx="365760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E8E8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◉ 管理员审核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8E8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文档上传需管理员审核后才能发布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8E8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◉ 用户等级控制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8E8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初级/中级/高级检修人员设置不同权限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8E8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◉ API安全防护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8E8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CORS设置、请求除帝、频率限制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4480560"/>
            <a:ext cx="8229600" cy="41148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44805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E8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安全设计原则  |  “最小权限”、“高安全”、“可管理”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50392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E8E8E8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E8E8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移动端适配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1371600" cy="4572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280160"/>
            <a:ext cx="3200400" cy="320040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7280" y="1463040"/>
            <a:ext cx="1920240" cy="2834640"/>
          </a:xfrm>
          <a:prstGeom prst="rect">
            <a:avLst/>
          </a:prstGeom>
          <a:solidFill>
            <a:srgbClr val="0F0F1A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256032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34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响应式设计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97280" y="320040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8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PC / 平板 / 手机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931920" y="1280160"/>
            <a:ext cx="4754880" cy="146304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9" name="Text 7"/>
          <p:cNvSpPr/>
          <p:nvPr/>
        </p:nvSpPr>
        <p:spPr>
          <a:xfrm>
            <a:off x="4114800" y="13716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F34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响应式设计特点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114800" y="192024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E8E8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完美适应各种屏幕尺寸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E8E8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触摸优化操作更顺漁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E8E8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安全区域适配避免裁剪惊异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931920" y="2926080"/>
            <a:ext cx="2286000" cy="155448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12" name="Text 10"/>
          <p:cNvSpPr/>
          <p:nvPr/>
        </p:nvSpPr>
        <p:spPr>
          <a:xfrm>
            <a:off x="3931920" y="30175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34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暗色主题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023360" y="3474720"/>
            <a:ext cx="2103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E8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保护视力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E8E8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节省能源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0" y="2926080"/>
            <a:ext cx="2286000" cy="155448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0" y="30175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34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流畅动画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92240" y="3474720"/>
            <a:ext cx="2103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E8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提升用户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E8E8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体验感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50392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E8E8E8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E8E8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创新与优势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1371600" cy="4572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280160"/>
            <a:ext cx="3931920" cy="237744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3716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34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技术创新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1920240"/>
            <a:ext cx="36576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E8E8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▶ 多模态大模型融合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8E8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文本、图片、视频异构式检索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8E8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▶ 向量语义检索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8E8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基于嵌入的语义理解检索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8E8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▶ 智能知识推荐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8E8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根据检修历史推荐相关案例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54880" y="1280160"/>
            <a:ext cx="3931920" cy="237744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8" name="Text 6"/>
          <p:cNvSpPr/>
          <p:nvPr/>
        </p:nvSpPr>
        <p:spPr>
          <a:xfrm>
            <a:off x="4937760" y="13716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34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应用价值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937760" y="192024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F34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30%+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4937760" y="24231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8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检修效率提升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040880" y="192024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F34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50%+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7040880" y="24231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8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操作失误率降低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937760" y="283464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E8E8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知识沉淀与复用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E8E8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标准化作业流程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E8E8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训练时长缩短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886200"/>
            <a:ext cx="8229600" cy="96012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97764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8E8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优势对比  |  传统方式  vs  本系统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0080" y="434340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E8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以图搜图  →  多模态检索  |  以类似搜索  →  语义匹配  |  以人工响应  →  AI自动化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50392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E8E8E8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E8E8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演示计划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1371600" cy="4572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234440"/>
            <a:ext cx="8229600" cy="4572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5" name="Shape 3"/>
          <p:cNvSpPr/>
          <p:nvPr/>
        </p:nvSpPr>
        <p:spPr>
          <a:xfrm>
            <a:off x="594360" y="1307592"/>
            <a:ext cx="320040" cy="320040"/>
          </a:xfrm>
          <a:prstGeom prst="ellipse">
            <a:avLst/>
          </a:prstGeom>
          <a:solidFill>
            <a:srgbClr val="0F3460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30759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0F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97280" y="12344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8E8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登录系统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926080" y="1234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F34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474720" y="123444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8E8E8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展示界面与认证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1737360"/>
            <a:ext cx="8229600" cy="457200"/>
          </a:xfrm>
          <a:prstGeom prst="rect">
            <a:avLst/>
          </a:prstGeom>
          <a:solidFill>
            <a:srgbClr val="16213E">
              <a:alpha val="5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594360" y="1810512"/>
            <a:ext cx="320040" cy="320040"/>
          </a:xfrm>
          <a:prstGeom prst="ellipse">
            <a:avLst/>
          </a:prstGeom>
          <a:solidFill>
            <a:srgbClr val="0F3460"/>
          </a:solidFill>
          <a:ln/>
        </p:spPr>
      </p:sp>
      <p:sp>
        <p:nvSpPr>
          <p:cNvPr id="12" name="Text 10"/>
          <p:cNvSpPr/>
          <p:nvPr/>
        </p:nvSpPr>
        <p:spPr>
          <a:xfrm>
            <a:off x="594360" y="181051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0F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97280" y="17373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8E8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仪表盘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926080" y="1737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F34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474720" y="173736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8E8E8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展示数据概览与智能推荐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2240280"/>
            <a:ext cx="8229600" cy="4572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17" name="Shape 15"/>
          <p:cNvSpPr/>
          <p:nvPr/>
        </p:nvSpPr>
        <p:spPr>
          <a:xfrm>
            <a:off x="594360" y="2313432"/>
            <a:ext cx="320040" cy="320040"/>
          </a:xfrm>
          <a:prstGeom prst="ellipse">
            <a:avLst/>
          </a:prstGeom>
          <a:solidFill>
            <a:srgbClr val="0F3460"/>
          </a:solidFill>
          <a:ln/>
        </p:spPr>
      </p:sp>
      <p:sp>
        <p:nvSpPr>
          <p:cNvPr id="18" name="Text 16"/>
          <p:cNvSpPr/>
          <p:nvPr/>
        </p:nvSpPr>
        <p:spPr>
          <a:xfrm>
            <a:off x="594360" y="231343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0F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97280" y="22402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8E8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知识检索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2926080" y="2240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F34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3474720" y="224028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8E8E8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演示文本/图片搜索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solidFill>
            <a:srgbClr val="16213E">
              <a:alpha val="50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594360" y="2816352"/>
            <a:ext cx="320040" cy="320040"/>
          </a:xfrm>
          <a:prstGeom prst="ellipse">
            <a:avLst/>
          </a:prstGeom>
          <a:solidFill>
            <a:srgbClr val="0F3460"/>
          </a:solidFill>
          <a:ln/>
        </p:spPr>
      </p:sp>
      <p:sp>
        <p:nvSpPr>
          <p:cNvPr id="24" name="Text 22"/>
          <p:cNvSpPr/>
          <p:nvPr/>
        </p:nvSpPr>
        <p:spPr>
          <a:xfrm>
            <a:off x="594360" y="281635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0F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097280" y="27432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8E8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AI问答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2926080" y="2743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F34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3474720" y="27432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8E8E8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演示故障诊断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57200" y="3246120"/>
            <a:ext cx="8229600" cy="4572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29" name="Shape 27"/>
          <p:cNvSpPr/>
          <p:nvPr/>
        </p:nvSpPr>
        <p:spPr>
          <a:xfrm>
            <a:off x="594360" y="3319272"/>
            <a:ext cx="320040" cy="320040"/>
          </a:xfrm>
          <a:prstGeom prst="ellipse">
            <a:avLst/>
          </a:prstGeom>
          <a:solidFill>
            <a:srgbClr val="0F3460"/>
          </a:solidFill>
          <a:ln/>
        </p:spPr>
      </p:sp>
      <p:sp>
        <p:nvSpPr>
          <p:cNvPr id="30" name="Text 28"/>
          <p:cNvSpPr/>
          <p:nvPr/>
        </p:nvSpPr>
        <p:spPr>
          <a:xfrm>
            <a:off x="594360" y="331927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0F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1097280" y="32461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8E8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作业指引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2926080" y="3246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F34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3474720" y="324612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8E8E8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演示指导书生成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457200" y="3749040"/>
            <a:ext cx="8229600" cy="457200"/>
          </a:xfrm>
          <a:prstGeom prst="rect">
            <a:avLst/>
          </a:prstGeom>
          <a:solidFill>
            <a:srgbClr val="16213E">
              <a:alpha val="50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594360" y="3822192"/>
            <a:ext cx="320040" cy="320040"/>
          </a:xfrm>
          <a:prstGeom prst="ellipse">
            <a:avLst/>
          </a:prstGeom>
          <a:solidFill>
            <a:srgbClr val="0F3460"/>
          </a:solidFill>
          <a:ln/>
        </p:spPr>
      </p:sp>
      <p:sp>
        <p:nvSpPr>
          <p:cNvPr id="36" name="Text 34"/>
          <p:cNvSpPr/>
          <p:nvPr/>
        </p:nvSpPr>
        <p:spPr>
          <a:xfrm>
            <a:off x="594360" y="382219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0F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1097280" y="37490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8E8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文档上传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2926080" y="3749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F34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3474720" y="374904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8E8E8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演示知识沉淀流程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457200" y="4251960"/>
            <a:ext cx="8229600" cy="4572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41" name="Shape 39"/>
          <p:cNvSpPr/>
          <p:nvPr/>
        </p:nvSpPr>
        <p:spPr>
          <a:xfrm>
            <a:off x="594360" y="4325112"/>
            <a:ext cx="320040" cy="320040"/>
          </a:xfrm>
          <a:prstGeom prst="ellipse">
            <a:avLst/>
          </a:prstGeom>
          <a:solidFill>
            <a:srgbClr val="0F3460"/>
          </a:solidFill>
          <a:ln/>
        </p:spPr>
      </p:sp>
      <p:sp>
        <p:nvSpPr>
          <p:cNvPr id="42" name="Text 40"/>
          <p:cNvSpPr/>
          <p:nvPr/>
        </p:nvSpPr>
        <p:spPr>
          <a:xfrm>
            <a:off x="594360" y="432511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0F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1097280" y="42519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8E8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消息通知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2926080" y="4251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F34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3474720" y="425196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8E8E8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演示双向通知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solidFill>
            <a:srgbClr val="0F3460">
              <a:alpha val="20000"/>
            </a:srgbClr>
          </a:solidFill>
          <a:ln/>
        </p:spPr>
      </p:sp>
      <p:sp>
        <p:nvSpPr>
          <p:cNvPr id="47" name="Text 45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8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预计演示时长：7分钟  |  每步级30秒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850392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E8E8E8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E8E8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总结与展望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1371600" cy="4572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280160"/>
            <a:ext cx="3931920" cy="210312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3716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34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项目成果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1920240"/>
            <a:ext cx="36576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E8E8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功能完整度高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E8E8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完成了检索、问答、指引、管理全流程</a:t>
            </a:r>
            <a:endParaRPr lang="en-US" sz="1100" dirty="0"/>
          </a:p>
          <a:p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E8E8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用户体验优秃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E8E8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响应式设计、快捷键、引导教程</a:t>
            </a:r>
            <a:endParaRPr lang="en-US" sz="1100" dirty="0"/>
          </a:p>
          <a:p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E8E8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技术架构先进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E8E8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多模态AI + 向量检索 + 图形化展示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54880" y="1280160"/>
            <a:ext cx="3931920" cy="210312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8" name="Text 6"/>
          <p:cNvSpPr/>
          <p:nvPr/>
        </p:nvSpPr>
        <p:spPr>
          <a:xfrm>
            <a:off x="4937760" y="13716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34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未来规划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937760" y="1920240"/>
            <a:ext cx="36576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E8E8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▶ 增强知识图谱互动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E8E8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▶ 增加离线模式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E8E8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▶ 扩展到更多行业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E8E8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▶ AR检修辅助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3611880"/>
            <a:ext cx="8229600" cy="109728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3657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34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“通过智能化设备检修，让企业知识越来越有价值”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57200" y="4251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E8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基于多模态大模型技术，打造专业、高效、易用的检修解决方案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50392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E8E8E8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0" cy="73152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228600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0" y="5070348"/>
            <a:ext cx="2743200" cy="73152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5" name="Shape 3"/>
          <p:cNvSpPr/>
          <p:nvPr/>
        </p:nvSpPr>
        <p:spPr>
          <a:xfrm>
            <a:off x="9070848" y="2857500"/>
            <a:ext cx="73152" cy="228600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1887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E8E8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感谢</a:t>
            </a:r>
            <a:endParaRPr lang="en-US" sz="7200" dirty="0"/>
          </a:p>
        </p:txBody>
      </p:sp>
      <p:sp>
        <p:nvSpPr>
          <p:cNvPr id="7" name="Shape 5"/>
          <p:cNvSpPr/>
          <p:nvPr/>
        </p:nvSpPr>
        <p:spPr>
          <a:xfrm>
            <a:off x="3657600" y="2377440"/>
            <a:ext cx="1828800" cy="27432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651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8E8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感谢大赛委员会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31089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8E8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感谢团队成员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2286000" y="3749040"/>
            <a:ext cx="4572000" cy="9144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11" name="Text 9"/>
          <p:cNvSpPr/>
          <p:nvPr/>
        </p:nvSpPr>
        <p:spPr>
          <a:xfrm>
            <a:off x="228600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F34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联系方式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286000" y="41605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E8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第15届中国软件杯大赛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50392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E8E8E8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设备检修知识检索与作业系统</dc:title>
  <dc:subject>第15届中国软件杯大赛</dc:subject>
  <dc:creator>龙芯中科技术股份有限公司</dc:creator>
  <cp:lastModifiedBy>龙芯中科技术股份有限公司</cp:lastModifiedBy>
  <cp:revision>1</cp:revision>
  <dcterms:created xsi:type="dcterms:W3CDTF">2026-05-22T03:28:45Z</dcterms:created>
  <dcterms:modified xsi:type="dcterms:W3CDTF">2026-05-22T03:28:45Z</dcterms:modified>
</cp:coreProperties>
</file>